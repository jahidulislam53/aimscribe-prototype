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820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0:45. Introduce the actual implementation and its honest boundaries. Do not claim the live experiment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Explain cover=page1. Show source hashes and the retained page-64 image. Missing source pages are evidence gaps, not permission to fabricate. Source: supplied assessment and uploaded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Open CHOL-MED-ABX and its source passages. Explain canonical means consistent format, not clinical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This is the implemented reasoning challenge. Do not infer a numeric elderly age not supplied by the source. Alternative antibiotics are options, not combination therapy.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Implemented path shown. Future NER requires negation/uncertainty and human verification. Doctor feedback and prescription assembly remain future integrations, not finished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Run the model connection test and a real case during the live demo. The app is written but no live provider was available in this build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Explain that pre/post uses are one applicability subsystem. Baseline already sees all conditions and a reasonable prompt. Report overblocking as a possible negative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Explain that pre/post uses are one applicability subsystem. Baseline already sees all conditions and a reasonable prompt. Report overblocking as a possible negative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38190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Replace this slide with actual observed counts only after configuring the model, freezing inputs and manually reviewing 12 outputs. Unit tests and mocked calls are not clinical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1:15. Explicitly distinguish preprint references from assigned 2026 final paper. Adopt patient-state/missing-information tracking; reject autonomous prescribing. Simulated chat does not validate Bengali GP-clinic use. Sources: ar5iv 2505.04653 and author Google Research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Total approximately ten minutes, then live demo. Explain what you personally reviewed, edited and measured. Never claim a clinician reviewed the dataset unless one actually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1:00. Total approximately ten minutes, then live demo. Explain what you personally reviewed, edited and measured. Never claim a clinician reviewed the dataset unless one actually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8993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 err="1"/>
              <a:t>AIMScribe</a:t>
            </a:r>
            <a:r>
              <a:rPr dirty="0"/>
              <a:t>: protocol-grounded clinical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26102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Research Associate technical assessment</a:t>
            </a:r>
          </a:p>
          <a:p>
            <a:pPr>
              <a:spcAft>
                <a:spcPts val="1900"/>
              </a:spcAft>
              <a:defRPr sz="2300"/>
            </a:pPr>
            <a:r>
              <a:t>• Four protocols → canonical evidence cards → patient-specific plans</a:t>
            </a:r>
          </a:p>
          <a:p>
            <a:pPr>
              <a:spcAft>
                <a:spcPts val="1900"/>
              </a:spcAft>
              <a:defRPr sz="2300"/>
            </a:pPr>
            <a:r>
              <a:t>• Research-only prototype; clinician review required</a:t>
            </a:r>
          </a:p>
          <a:p>
            <a:pPr>
              <a:spcAft>
                <a:spcPts val="1900"/>
              </a:spcAft>
              <a:defRPr sz="2300"/>
            </a:pPr>
            <a:r>
              <a:t>• Current status: source-grounded implementation, NOT completed live-model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Sources and page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Dengue: PDF 26–28, 37–41, 45–48</a:t>
            </a:r>
          </a:p>
          <a:p>
            <a:pPr>
              <a:spcAft>
                <a:spcPts val="1900"/>
              </a:spcAft>
              <a:defRPr sz="2300"/>
            </a:pPr>
            <a:r>
              <a:t>• Hypertension: PDF 46–52, 64–65; printed page 33 is PDF 64</a:t>
            </a:r>
          </a:p>
          <a:p>
            <a:pPr>
              <a:spcAft>
                <a:spcPts val="1900"/>
              </a:spcAft>
              <a:defRPr sz="2300"/>
            </a:pPr>
            <a:r>
              <a:t>• Cholera: PDF 5–14</a:t>
            </a:r>
          </a:p>
          <a:p>
            <a:pPr>
              <a:spcAft>
                <a:spcPts val="1900"/>
              </a:spcAft>
              <a:defRPr sz="2300"/>
            </a:pPr>
            <a:r>
              <a:t>• Chikungunya: PDF 11–22 available; assigned 26–27 absent in 23-page copy</a:t>
            </a:r>
          </a:p>
          <a:p>
            <a:pPr>
              <a:spcAft>
                <a:spcPts val="1900"/>
              </a:spcAft>
              <a:defRPr sz="2300"/>
            </a:pPr>
            <a:r>
              <a:t>• Page-64 hypertension algorithm preserved as image; full transcription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Q1: canonical recommendation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32 cards cover all four output categories across four protocols</a:t>
            </a:r>
          </a:p>
          <a:p>
            <a:pPr>
              <a:spcAft>
                <a:spcPts val="1900"/>
              </a:spcAft>
              <a:defRPr sz="2300"/>
            </a:pPr>
            <a:r>
              <a:t>• ID • disease • category • prerequisites • exclusions • missing fields</a:t>
            </a:r>
          </a:p>
          <a:p>
            <a:pPr>
              <a:spcAft>
                <a:spcPts val="1900"/>
              </a:spcAft>
              <a:defRPr sz="2300"/>
            </a:pPr>
            <a:r>
              <a:t>• Action + medication fields + source edition/PDF position/evidence</a:t>
            </a:r>
          </a:p>
          <a:p>
            <a:pPr>
              <a:spcAft>
                <a:spcPts val="1900"/>
              </a:spcAft>
              <a:defRPr sz="2300"/>
            </a:pPr>
            <a:r>
              <a:t>• Nested AND/OR logic; unsupported drug fields remain null</a:t>
            </a:r>
          </a:p>
          <a:p>
            <a:pPr>
              <a:spcAft>
                <a:spcPts val="1900"/>
              </a:spcAft>
              <a:defRPr sz="2300"/>
            </a:pPr>
            <a:r>
              <a:t>• AI-curated cards require personal source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Q1: why representation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Rejected: attach antibiotic eligibility only to severe-dehydration Plan C</a:t>
            </a:r>
          </a:p>
          <a:p>
            <a:pPr>
              <a:spcAft>
                <a:spcPts val="1900"/>
              </a:spcAft>
              <a:defRPr sz="2300"/>
            </a:pPr>
            <a:r>
              <a:t>• Implemented: severe dehydration OR pregnant OR elderly</a:t>
            </a:r>
          </a:p>
          <a:p>
            <a:pPr>
              <a:spcAft>
                <a:spcPts val="1900"/>
              </a:spcAft>
              <a:defRPr sz="2300"/>
            </a:pPr>
            <a:r>
              <a:t>• Pregnancy qualifies regardless of hydration status</a:t>
            </a:r>
          </a:p>
          <a:p>
            <a:pPr>
              <a:spcAft>
                <a:spcPts val="1900"/>
              </a:spcAft>
              <a:defRPr sz="2300"/>
            </a:pPr>
            <a:r>
              <a:t>• C3→C6: only pregnancy changes; ORS branch stays the same</a:t>
            </a:r>
          </a:p>
          <a:p>
            <a:pPr>
              <a:spcAft>
                <a:spcPts val="1900"/>
              </a:spcAft>
              <a:defRPr sz="2300"/>
            </a:pPr>
            <a:r>
              <a:t>• Source: WHO cholera tools PDF pages 5, 9 and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Q3: complete intended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337560" cy="1051560"/>
          </a:xfrm>
          <a:prstGeom prst="roundRect">
            <a:avLst/>
          </a:prstGeom>
          <a:solidFill>
            <a:srgbClr val="1A5B75"/>
          </a:solidFill>
          <a:ln>
            <a:solidFill>
              <a:srgbClr val="1A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Exact PDFs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Extraction / page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828800"/>
            <a:ext cx="3337560" cy="1051560"/>
          </a:xfrm>
          <a:prstGeom prst="roundRect">
            <a:avLst/>
          </a:prstGeom>
          <a:solidFill>
            <a:srgbClr val="1A5B75"/>
          </a:solidFill>
          <a:ln>
            <a:solidFill>
              <a:srgbClr val="1A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Canonical cards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Source IDs +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828800"/>
            <a:ext cx="3337560" cy="1051560"/>
          </a:xfrm>
          <a:prstGeom prst="roundRect">
            <a:avLst/>
          </a:prstGeom>
          <a:solidFill>
            <a:srgbClr val="1A5B75"/>
          </a:solidFill>
          <a:ln>
            <a:solidFill>
              <a:srgbClr val="1A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Sparse RAG index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Same top-k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3337560" cy="1051560"/>
          </a:xfrm>
          <a:prstGeom prst="roundRect">
            <a:avLst/>
          </a:prstGeom>
          <a:solidFill>
            <a:srgbClr val="1A5B75"/>
          </a:solidFill>
          <a:ln>
            <a:solidFill>
              <a:srgbClr val="1A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Patient input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Full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657600"/>
            <a:ext cx="3337560" cy="1051560"/>
          </a:xfrm>
          <a:prstGeom prst="roundRect">
            <a:avLst/>
          </a:prstGeom>
          <a:solidFill>
            <a:srgbClr val="1A5B75"/>
          </a:solidFill>
          <a:ln>
            <a:solidFill>
              <a:srgbClr val="1A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Model + applicability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Baseline / improved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657600"/>
            <a:ext cx="3337560" cy="1051560"/>
          </a:xfrm>
          <a:prstGeom prst="roundRect">
            <a:avLst/>
          </a:prstGeom>
          <a:solidFill>
            <a:srgbClr val="1A5B75"/>
          </a:solidFill>
          <a:ln>
            <a:solidFill>
              <a:srgbClr val="1A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Evidence-backed output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Clinician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Future: NER → verified patient fields | Doctor feedback → curated review | Approval → prescription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Q2: working procedure and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Editable patient context; disease name is not required</a:t>
            </a:r>
          </a:p>
          <a:p>
            <a:pPr>
              <a:spcAft>
                <a:spcPts val="1900"/>
              </a:spcAft>
              <a:defRPr sz="2300"/>
            </a:pPr>
            <a:r>
              <a:t>• Same TF-IDF top-16 retrieval in both modes</a:t>
            </a:r>
          </a:p>
          <a:p>
            <a:pPr>
              <a:spcAft>
                <a:spcPts val="1900"/>
              </a:spcAft>
              <a:defRPr sz="2300"/>
            </a:pPr>
            <a:r>
              <a:t>• Existing local/API model selects evidence-card IDs</a:t>
            </a:r>
          </a:p>
          <a:p>
            <a:pPr>
              <a:spcAft>
                <a:spcPts val="1900"/>
              </a:spcAft>
              <a:defRPr sz="2300"/>
            </a:pPr>
            <a:r>
              <a:t>• Canonical renderer limits invented dose/action wording</a:t>
            </a:r>
          </a:p>
          <a:p>
            <a:pPr>
              <a:spcAft>
                <a:spcPts val="1900"/>
              </a:spcAft>
              <a:defRPr sz="2300"/>
            </a:pPr>
            <a:r>
              <a:t>• Show diagnosis, investigations, medication plan, advice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Q2: one controlled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Three-valued applicability: true / false / unknown</a:t>
            </a:r>
          </a:p>
          <a:p>
            <a:pPr>
              <a:spcAft>
                <a:spcPts val="1900"/>
              </a:spcAft>
              <a:defRPr sz="2300"/>
            </a:pPr>
            <a:r>
              <a:t>• Same patient, cards, retrieval, prompt, model and settings</a:t>
            </a:r>
          </a:p>
          <a:p>
            <a:pPr>
              <a:spcAft>
                <a:spcPts val="1900"/>
              </a:spcAft>
              <a:defRPr sz="2300"/>
            </a:pPr>
            <a:r>
              <a:t>• Improved: annotate prerequisites and check selected actions</a:t>
            </a:r>
          </a:p>
          <a:p>
            <a:pPr>
              <a:spcAft>
                <a:spcPts val="1900"/>
              </a:spcAft>
              <a:defRPr sz="2300"/>
            </a:pPr>
            <a:r>
              <a:t>• Unknown is not false; a checker cannot fix missing retrieval</a:t>
            </a:r>
          </a:p>
          <a:p>
            <a:pPr>
              <a:spcAft>
                <a:spcPts val="1900"/>
              </a:spcAft>
              <a:defRPr sz="2300"/>
            </a:pPr>
            <a:r>
              <a:t>• Adds no extra model call; does add tokens/checking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99404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lang="en-US" dirty="0"/>
              <a:t>Model and configuration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rPr lang="en-US" dirty="0"/>
              <a:t>Gemini 3.5 Flash Lite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Temperature: 0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TOP_K: 16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Google Gemini API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7/10 | AIMScribe assessment | Research prototype — pending clinical review / final experiment</a:t>
            </a:r>
          </a:p>
        </p:txBody>
      </p:sp>
    </p:spTree>
    <p:extLst>
      <p:ext uri="{BB962C8B-B14F-4D97-AF65-F5344CB8AC3E}">
        <p14:creationId xmlns:p14="http://schemas.microsoft.com/office/powerpoint/2010/main" val="40747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978"/>
            <a:ext cx="3894977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lang="en-US" dirty="0"/>
              <a:t>Final experiment results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52540" y="1526102"/>
            <a:ext cx="107899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rPr lang="en-US" dirty="0"/>
              <a:t>Final experiment — completed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• Six frozen cases: four ordinary, one incomplete, one modified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• Expected checklists stayed outside prompts and index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• Two modes × six cases = 12 real API attempts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• 8 valid outputs from C1–C4; all passed the four manual checks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• 4 attempts failed with Gemini HTTP 429 quota errors (C5, C6); scored NA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• No clinical-accuracy claim; small self-authored evaluation only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Q4: multimodal AMIE paper — draft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26102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Problem: integrate images/documents into diagnostic dialogue</a:t>
            </a:r>
          </a:p>
          <a:p>
            <a:pPr>
              <a:spcAft>
                <a:spcPts val="1900"/>
              </a:spcAft>
              <a:defRPr sz="2300"/>
            </a:pPr>
            <a:r>
              <a:t>• Gemini 2.0 Flash + state-aware history / diagnosis / follow-up</a:t>
            </a:r>
          </a:p>
          <a:p>
            <a:pPr>
              <a:spcAft>
                <a:spcPts val="1900"/>
              </a:spcAft>
              <a:defRPr sz="2300"/>
            </a:pPr>
            <a:r>
              <a:t>• Accessible preprint: 105 scenarios, 25 actors, 18 specialists</a:t>
            </a:r>
          </a:p>
          <a:p>
            <a:pPr>
              <a:spcAft>
                <a:spcPts val="1900"/>
              </a:spcAft>
              <a:defRPr sz="2300"/>
            </a:pPr>
            <a:r>
              <a:t>• Preprint abstract: 7/9 multimodal and 29/32 other axes; Figure 2 shows state mechanism</a:t>
            </a:r>
          </a:p>
          <a:p>
            <a:pPr>
              <a:spcAft>
                <a:spcPts val="1900"/>
              </a:spcAft>
              <a:defRPr sz="2300"/>
            </a:pPr>
            <a:r>
              <a:t>• Final Nature Medicine result/figure references still require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7928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dirty="0"/>
              <a:t>Ownership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t>• Know every condition and source page used in a recommendation</a:t>
            </a:r>
          </a:p>
          <a:p>
            <a:pPr>
              <a:spcAft>
                <a:spcPts val="1900"/>
              </a:spcAft>
              <a:defRPr sz="2300"/>
            </a:pPr>
            <a:r>
              <a:t>• Resolve chikungunya missing pages and visually review hypertension algorithm</a:t>
            </a:r>
          </a:p>
          <a:p>
            <a:pPr>
              <a:spcAft>
                <a:spcPts val="1900"/>
              </a:spcAft>
              <a:defRPr sz="2300"/>
            </a:pPr>
            <a:r>
              <a:t>• Configure model, run final comparison, inspect failures honestly</a:t>
            </a:r>
          </a:p>
          <a:p>
            <a:pPr>
              <a:spcAft>
                <a:spcPts val="1900"/>
              </a:spcAft>
              <a:defRPr sz="2300"/>
            </a:pPr>
            <a:r>
              <a:t>• Test Bengali/code-switched inputs and new externally authored cases</a:t>
            </a:r>
          </a:p>
          <a:p>
            <a:pPr>
              <a:spcAft>
                <a:spcPts val="1900"/>
              </a:spcAft>
              <a:defRPr sz="2300"/>
            </a:pPr>
            <a:r>
              <a:t>• AI assistance disclosed; no autonomous clinical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10/10 | AIMScribe assessment | Research prototype — pending clinical review / final experiment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8990"/>
            <a:ext cx="1900777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354E"/>
                </a:solidFill>
              </a:defRPr>
            </a:pPr>
            <a:r>
              <a:rPr lang="en-US" dirty="0"/>
              <a:t>Limitations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/>
            </a:pPr>
            <a:r>
              <a:rPr lang="en-US" dirty="0"/>
              <a:t>C5 and C6 could not be evaluated because of API quota failures.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Small self-authored case set; not a broad clinical-accuracy evaluation.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Chikungunya source pages 26–27 were unavailable in the provided PDF copy.</a:t>
            </a:r>
          </a:p>
          <a:p>
            <a:pPr>
              <a:spcAft>
                <a:spcPts val="1900"/>
              </a:spcAft>
              <a:defRPr sz="2300"/>
            </a:pPr>
            <a:r>
              <a:rPr lang="en-US" dirty="0"/>
              <a:t>Hypertension page 64 algorithm details remain partially untranscribed.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10/10 | </a:t>
            </a:r>
            <a:r>
              <a:rPr dirty="0" err="1"/>
              <a:t>AIMScribe</a:t>
            </a:r>
            <a:r>
              <a:rPr dirty="0"/>
              <a:t> assessment | Research prototype — pending clinical review / final experiment</a:t>
            </a:r>
          </a:p>
        </p:txBody>
      </p:sp>
    </p:spTree>
    <p:extLst>
      <p:ext uri="{BB962C8B-B14F-4D97-AF65-F5344CB8AC3E}">
        <p14:creationId xmlns:p14="http://schemas.microsoft.com/office/powerpoint/2010/main" val="795850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1187</Words>
  <Application>Microsoft Office PowerPoint</Application>
  <PresentationFormat>Widescreen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Md. Jahidul Islam</cp:lastModifiedBy>
  <cp:revision>4</cp:revision>
  <dcterms:created xsi:type="dcterms:W3CDTF">2013-01-27T09:14:16Z</dcterms:created>
  <dcterms:modified xsi:type="dcterms:W3CDTF">2026-10-26T11:46:36Z</dcterms:modified>
  <cp:category/>
</cp:coreProperties>
</file>